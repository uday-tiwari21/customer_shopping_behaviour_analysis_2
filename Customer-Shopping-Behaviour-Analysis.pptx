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Space Grotesk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44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3" name="Text 1"/>
          <p:cNvSpPr/>
          <p:nvPr/>
        </p:nvSpPr>
        <p:spPr>
          <a:xfrm>
            <a:off x="812780" y="1048147"/>
            <a:ext cx="507987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ANALYTICS · MANAGEMENT 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780" y="1393527"/>
            <a:ext cx="4470288" cy="256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spc="-72" kern="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Customer Shopping Behaviour Analysis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12780" y="4290318"/>
            <a:ext cx="558786" cy="38100"/>
          </a:xfrm>
          <a:prstGeom prst="roundRect">
            <a:avLst>
              <a:gd name="adj" fmla="val 49999"/>
            </a:avLst>
          </a:prstGeom>
          <a:solidFill>
            <a:srgbClr val="91A894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4636393"/>
            <a:ext cx="447028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retail data into actionable business insights for management decisions.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2800"/>
            <a:ext cx="1117572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04" kern="0" dirty="0">
                <a:solidFill>
                  <a:srgbClr val="5A7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58180"/>
            <a:ext cx="914377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0" dirty="0">
                <a:solidFill>
                  <a:srgbClr val="24344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Management needs a sharper view of where purchase value comes from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0" y="2294830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91A894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2640905"/>
            <a:ext cx="843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1A8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780" y="2943126"/>
            <a:ext cx="1869433" cy="19050"/>
          </a:xfrm>
          <a:prstGeom prst="rect">
            <a:avLst/>
          </a:prstGeom>
          <a:solidFill>
            <a:srgbClr val="91A894"/>
          </a:solidFill>
          <a:ln/>
        </p:spPr>
      </p:sp>
      <p:sp>
        <p:nvSpPr>
          <p:cNvPr id="7" name="Text 5"/>
          <p:cNvSpPr/>
          <p:nvPr/>
        </p:nvSpPr>
        <p:spPr>
          <a:xfrm>
            <a:off x="812780" y="3091656"/>
            <a:ext cx="1869433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spc="-25" kern="0" dirty="0">
                <a:solidFill>
                  <a:srgbClr val="24344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3,900 records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780" y="3521472"/>
            <a:ext cx="186943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fields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86906" y="2640905"/>
            <a:ext cx="8865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1A8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986906" y="2943126"/>
            <a:ext cx="1869433" cy="19050"/>
          </a:xfrm>
          <a:prstGeom prst="rect">
            <a:avLst/>
          </a:prstGeom>
          <a:solidFill>
            <a:srgbClr val="91A894"/>
          </a:solidFill>
          <a:ln/>
        </p:spPr>
      </p:sp>
      <p:sp>
        <p:nvSpPr>
          <p:cNvPr id="11" name="Text 9"/>
          <p:cNvSpPr/>
          <p:nvPr/>
        </p:nvSpPr>
        <p:spPr>
          <a:xfrm>
            <a:off x="2986906" y="3091656"/>
            <a:ext cx="1869433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spc="-25" kern="0" dirty="0">
                <a:solidFill>
                  <a:srgbClr val="24344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SQL analysis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86906" y="3521472"/>
            <a:ext cx="18694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the evidence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61032" y="2640905"/>
            <a:ext cx="8893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1A8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61032" y="2943126"/>
            <a:ext cx="1869433" cy="19050"/>
          </a:xfrm>
          <a:prstGeom prst="rect">
            <a:avLst/>
          </a:prstGeom>
          <a:solidFill>
            <a:srgbClr val="91A894"/>
          </a:solidFill>
          <a:ln/>
        </p:spPr>
      </p:sp>
      <p:sp>
        <p:nvSpPr>
          <p:cNvPr id="15" name="Text 13"/>
          <p:cNvSpPr/>
          <p:nvPr/>
        </p:nvSpPr>
        <p:spPr>
          <a:xfrm>
            <a:off x="5161032" y="3091656"/>
            <a:ext cx="1869532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spc="-25" kern="0" dirty="0">
                <a:solidFill>
                  <a:srgbClr val="24344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Visualisation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61032" y="3521472"/>
            <a:ext cx="186953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the patterns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35257" y="2640905"/>
            <a:ext cx="89582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1A8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35257" y="2943126"/>
            <a:ext cx="1869433" cy="19050"/>
          </a:xfrm>
          <a:prstGeom prst="rect">
            <a:avLst/>
          </a:prstGeom>
          <a:solidFill>
            <a:srgbClr val="91A894"/>
          </a:solidFill>
          <a:ln/>
        </p:spPr>
      </p:sp>
      <p:sp>
        <p:nvSpPr>
          <p:cNvPr id="19" name="Text 17"/>
          <p:cNvSpPr/>
          <p:nvPr/>
        </p:nvSpPr>
        <p:spPr>
          <a:xfrm>
            <a:off x="7335257" y="3091656"/>
            <a:ext cx="1869433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spc="-25" kern="0" dirty="0">
                <a:solidFill>
                  <a:srgbClr val="24344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Implications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35257" y="3521472"/>
            <a:ext cx="18694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to decisions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509383" y="2640905"/>
            <a:ext cx="88421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1A8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509383" y="2943126"/>
            <a:ext cx="1869433" cy="19050"/>
          </a:xfrm>
          <a:prstGeom prst="rect">
            <a:avLst/>
          </a:prstGeom>
          <a:solidFill>
            <a:srgbClr val="91A894"/>
          </a:solidFill>
          <a:ln/>
        </p:spPr>
      </p:sp>
      <p:sp>
        <p:nvSpPr>
          <p:cNvPr id="23" name="Text 21"/>
          <p:cNvSpPr/>
          <p:nvPr/>
        </p:nvSpPr>
        <p:spPr>
          <a:xfrm>
            <a:off x="9509383" y="3091656"/>
            <a:ext cx="1869433" cy="22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spc="-25" kern="0" dirty="0">
                <a:solidFill>
                  <a:srgbClr val="24344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Controlled tests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09383" y="3521472"/>
            <a:ext cx="18694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evidence into learning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12780" y="4379913"/>
            <a:ext cx="10566136" cy="841970"/>
          </a:xfrm>
          <a:prstGeom prst="roundRect">
            <a:avLst>
              <a:gd name="adj" fmla="val 10769"/>
            </a:avLst>
          </a:prstGeom>
          <a:solidFill>
            <a:srgbClr val="E3E8E3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674" y="4649788"/>
            <a:ext cx="1074393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recorded purchase value — not profit, ROI, retention or lifetime value.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427930"/>
            <a:ext cx="379512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04" kern="0" dirty="0">
                <a:solidFill>
                  <a:srgbClr val="5A7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773311"/>
            <a:ext cx="3185537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0" dirty="0">
                <a:solidFill>
                  <a:srgbClr val="24344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$233,081 recorded purchase value sets a $59.76 baseline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780" y="3056136"/>
            <a:ext cx="3185537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performance is healthy enough to prioritise experiments, but average differences are modest and should be validated rather than over-interpreted.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780" y="5177433"/>
            <a:ext cx="398155" cy="38100"/>
          </a:xfrm>
          <a:prstGeom prst="roundRect">
            <a:avLst>
              <a:gd name="adj" fmla="val 49999"/>
            </a:avLst>
          </a:prstGeom>
          <a:solidFill>
            <a:srgbClr val="91A894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5523508"/>
            <a:ext cx="318553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and Accessories together represent about 76.5% of recorded value.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965" y="1147663"/>
            <a:ext cx="5297950" cy="40063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80965" y="5408017"/>
            <a:ext cx="590753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KPIs · values shown exactly as recorded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2800"/>
            <a:ext cx="11175720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spc="103" kern="0" dirty="0">
                <a:solidFill>
                  <a:srgbClr val="5A7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AND PRODUCT MIX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51533"/>
            <a:ext cx="9143771" cy="790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950" spc="-44" kern="0" dirty="0">
                <a:solidFill>
                  <a:srgbClr val="24344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Clothing and Accessories carry the commercial centre of gravity</a:t>
            </a:r>
            <a:endParaRPr lang="en-US" sz="2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2218432"/>
            <a:ext cx="5968851" cy="36213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780" y="5951438"/>
            <a:ext cx="6402327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contribution · purchase value ($)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72196" y="2218432"/>
            <a:ext cx="3706720" cy="2996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spcAft>
                <a:spcPts val="1250"/>
              </a:spcAft>
              <a:buNone/>
            </a:pPr>
            <a:r>
              <a:rPr lang="en-US" sz="1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items:</a:t>
            </a:r>
            <a:pPr algn="l" indent="0" marL="0">
              <a:lnSpc>
                <a:spcPct val="116000"/>
              </a:lnSpc>
              <a:spcAft>
                <a:spcPts val="1250"/>
              </a:spcAft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Blouse $10,410 · Shirt $10,332 · Dress $10,320 · Pants $10,090 · Jewelry $10,010</a:t>
            </a:r>
            <a:endParaRPr lang="en-US" sz="1700" dirty="0"/>
          </a:p>
          <a:p>
            <a:pPr algn="l" indent="0" marL="0">
              <a:lnSpc>
                <a:spcPct val="116000"/>
              </a:lnSpc>
              <a:spcAft>
                <a:spcPts val="1250"/>
              </a:spcAft>
              <a:buNone/>
            </a:pPr>
            <a:r>
              <a:rPr lang="en-US" sz="1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category value:</a:t>
            </a:r>
            <a:pPr algn="l" indent="0" marL="0">
              <a:lnSpc>
                <a:spcPct val="116000"/>
              </a:lnSpc>
              <a:spcAft>
                <a:spcPts val="1250"/>
              </a:spcAft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Footwear leads at $60.26, followed closely by Clothing at $60.03.</a:t>
            </a:r>
            <a:endParaRPr lang="en-US" sz="17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signal:</a:t>
            </a:r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Medium is the most purchased size at 1,755 records; Olive leads at 177.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672196" y="5427663"/>
            <a:ext cx="3706720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672196" y="5672435"/>
            <a:ext cx="3706720" cy="1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Implication:</a:t>
            </a:r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scale opportunities sit in the two largest categories; Footwear is a candidate for volume-building tests.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2800"/>
            <a:ext cx="11175720" cy="19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200" spc="94" kern="0" dirty="0">
                <a:solidFill>
                  <a:srgbClr val="5A7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READ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1106785"/>
            <a:ext cx="9143771" cy="362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700" spc="-41" kern="0" dirty="0">
                <a:solidFill>
                  <a:srgbClr val="24344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Volume explains more of the gap than customer identity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702197"/>
            <a:ext cx="6349841" cy="38118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780" y="5608141"/>
            <a:ext cx="6739265" cy="19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value follows audience size; average values stay close across segments.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09233" y="1702197"/>
            <a:ext cx="3369682" cy="3408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spcAft>
                <a:spcPts val="1050"/>
              </a:spcAft>
              <a:buNone/>
            </a:pPr>
            <a:r>
              <a:rPr lang="en-US" sz="155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Age:</a:t>
            </a:r>
            <a:pPr algn="l" indent="0" marL="0">
              <a:lnSpc>
                <a:spcPct val="111000"/>
              </a:lnSpc>
              <a:spcAft>
                <a:spcPts val="1050"/>
              </a:spcAft>
              <a:buNone/>
            </a:pPr>
            <a:r>
              <a:rPr lang="en-US" sz="15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55+ contributes the highest total at $69,590 across 1,178 records; ages 45–54 lead average value at $60.33.</a:t>
            </a:r>
            <a:endParaRPr lang="en-US" sz="1550" dirty="0"/>
          </a:p>
          <a:p>
            <a:pPr algn="l" indent="0" marL="0">
              <a:lnSpc>
                <a:spcPct val="111000"/>
              </a:lnSpc>
              <a:spcAft>
                <a:spcPts val="1050"/>
              </a:spcAft>
              <a:buNone/>
            </a:pPr>
            <a:r>
              <a:rPr lang="en-US" sz="155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Gender:</a:t>
            </a:r>
            <a:pPr algn="l" indent="0" marL="0">
              <a:lnSpc>
                <a:spcPct val="111000"/>
              </a:lnSpc>
              <a:spcAft>
                <a:spcPts val="1050"/>
              </a:spcAft>
              <a:buNone/>
            </a:pPr>
            <a:r>
              <a:rPr lang="en-US" sz="15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female averages $60.25 versus $59.54 for male customers; male total is larger because there are more records.</a:t>
            </a:r>
            <a:endParaRPr lang="en-US" sz="1550" dirty="0"/>
          </a:p>
          <a:p>
            <a:pPr algn="l" indent="0" marL="0">
              <a:lnSpc>
                <a:spcPct val="111000"/>
              </a:lnSpc>
              <a:buNone/>
            </a:pPr>
            <a:r>
              <a:rPr lang="en-US" sz="155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Subscription:</a:t>
            </a:r>
            <a:pPr algn="l" indent="0" marL="0">
              <a:lnSpc>
                <a:spcPct val="1110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non-subscribers contribute $170,436 versus $62,645; averages are nearly identical at $59.87 and $59.49.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009233" y="5246985"/>
            <a:ext cx="3369682" cy="1535113"/>
          </a:xfrm>
          <a:prstGeom prst="roundRect">
            <a:avLst>
              <a:gd name="adj" fmla="val 5358"/>
            </a:avLst>
          </a:prstGeom>
          <a:solidFill>
            <a:srgbClr val="FFB3B4"/>
          </a:solidFill>
          <a:ln/>
        </p:spPr>
      </p:sp>
      <p:sp>
        <p:nvSpPr>
          <p:cNvPr id="8" name="Text 5"/>
          <p:cNvSpPr/>
          <p:nvPr/>
        </p:nvSpPr>
        <p:spPr>
          <a:xfrm>
            <a:off x="8204987" y="5491659"/>
            <a:ext cx="2978175" cy="104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differences are not evidence that demographics or subscription status cause spend.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2800"/>
            <a:ext cx="1117572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04" kern="0" dirty="0">
                <a:solidFill>
                  <a:srgbClr val="5A7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58180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0" dirty="0">
                <a:solidFill>
                  <a:srgbClr val="24344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Some smaller markets spend more per record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780" y="1840805"/>
          <a:ext cx="9143771" cy="914400"/>
        </p:xfrm>
        <a:graphic>
          <a:graphicData uri="http://schemas.openxmlformats.org/drawingml/2006/table">
            <a:tbl>
              <a:tblPr/>
              <a:tblGrid>
                <a:gridCol w="2535873"/>
                <a:gridCol w="8030263"/>
              </a:tblGrid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43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Opportunity group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43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Location · records · average purchase value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97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volume / lower average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California — 95 records at $59.00; Alabama — 89 records at $59.11; Minnesota — 88 records at $56.56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0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Lower volume / higher average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Alaska — 72 records at $67.60; Pennsylvania — 74 records at $66.57; Arizona — 65 records at $66.55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4149229"/>
            <a:ext cx="410457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30" kern="0" dirty="0">
                <a:solidFill>
                  <a:srgbClr val="24344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Highest total locations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2780" y="4619129"/>
            <a:ext cx="410457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Montana $5,784; Illinois $5,617; California $5,605.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222050" y="4149229"/>
            <a:ext cx="615676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30" kern="0" dirty="0">
                <a:solidFill>
                  <a:srgbClr val="24344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Implication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222050" y="4619129"/>
            <a:ext cx="615676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volume × average-value view to prioritise local basket-building and acquisition experiments, not a league table alone.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2800"/>
            <a:ext cx="1117572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04" kern="0" dirty="0">
                <a:solidFill>
                  <a:srgbClr val="5A7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 AND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58180"/>
            <a:ext cx="914377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0" dirty="0">
                <a:solidFill>
                  <a:srgbClr val="24344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Promotion and operations remain hypotheses to test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780" y="2240855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43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Promotion status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43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Records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43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Average purchase value ($)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discount / no promo code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2,223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60.13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Discount / promo code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1,677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59.28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3944838"/>
            <a:ext cx="5054474" cy="1373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Discounts:</a:t>
            </a:r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$0.85 gap. </a:t>
            </a:r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Promo codes:</a:t>
            </a:r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same averages are reported.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Supported: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describe usage and association, but do not claim incremental lift or profitability.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324442" y="3944838"/>
            <a:ext cx="5054474" cy="1748631"/>
          </a:xfrm>
          <a:prstGeom prst="roundRect">
            <a:avLst>
              <a:gd name="adj" fmla="val 5186"/>
            </a:avLst>
          </a:prstGeom>
          <a:solidFill>
            <a:srgbClr val="E3E8E3"/>
          </a:solidFill>
          <a:ln/>
        </p:spPr>
      </p:sp>
      <p:sp>
        <p:nvSpPr>
          <p:cNvPr id="7" name="Text 4"/>
          <p:cNvSpPr/>
          <p:nvPr/>
        </p:nvSpPr>
        <p:spPr>
          <a:xfrm>
            <a:off x="6540336" y="4214713"/>
            <a:ext cx="4622684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seasonal comparisons, shipping and payment relationships need dashboard exploration or additional validated result tables before drawing conclusions.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EEEC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074" y="152400"/>
            <a:ext cx="695942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04" kern="0" dirty="0">
                <a:solidFill>
                  <a:srgbClr val="5A7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EVIDENCE TO LEARNING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074" y="497780"/>
            <a:ext cx="634984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0" dirty="0">
                <a:solidFill>
                  <a:srgbClr val="24344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Three controlled tests can turn evidence into growth learning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074" y="1634430"/>
            <a:ext cx="793631" cy="38100"/>
          </a:xfrm>
          <a:prstGeom prst="roundRect">
            <a:avLst>
              <a:gd name="adj" fmla="val 49999"/>
            </a:avLst>
          </a:prstGeom>
          <a:solidFill>
            <a:srgbClr val="91A894"/>
          </a:solidFill>
          <a:ln/>
        </p:spPr>
      </p:sp>
      <p:sp>
        <p:nvSpPr>
          <p:cNvPr id="7" name="Text 4"/>
          <p:cNvSpPr/>
          <p:nvPr/>
        </p:nvSpPr>
        <p:spPr>
          <a:xfrm>
            <a:off x="5029074" y="1980505"/>
            <a:ext cx="6349841" cy="37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Cross-sell Clothing and Accessories: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complementary recommendations around Blouse, Shirt and Dress; track average purchase value, total purchase value and units per order against a holdout.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baskets locally: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Test bundles or threshold offers in California, Alabama and Minnesota; compare against a matched baseline and account for discount cost when available.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by behaviour, then validate: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Test age/gender/category recommendations and evaluate subscriber engagement separately; scale only on incremental lift.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29074" y="6000849"/>
            <a:ext cx="634984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Success line: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action is an investigation, not a guaranteed outcome.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2800"/>
            <a:ext cx="1117572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04" kern="0" dirty="0">
                <a:solidFill>
                  <a:srgbClr val="91A8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TAKEAWAY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58180"/>
            <a:ext cx="105661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Scale where the data is concentrated, learn where the signal is strongest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780" y="2240855"/>
            <a:ext cx="5054474" cy="2280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five insights:</a:t>
            </a:r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$233,081 total value; Clothing and Accessories are 76.5% of value; Blouse leads item totals; location averages vary more than totals; promotion differences are small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category mix, product ratings, local basket value, subscriber engagement and incremental lift.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24442" y="2240855"/>
            <a:ext cx="5054474" cy="2280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Cannot establish yet:</a:t>
            </a:r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profitability, marketing ROI, month-over-month growth, retention and customer lifetime value.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 dates, order IDs, product cost, promotion cost, returns and customer-level history to connect sales patterns to commercial impact.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780" y="5440759"/>
            <a:ext cx="1056613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Management takeaway: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prioritise experiments around the existing value engine, then scale only where controlled evidence proves the economics.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2026-09-29T11:28:09Z</dcterms:created>
  <dcterms:modified xsi:type="dcterms:W3CDTF">2026-09-29T11:28:09Z</dcterms:modified>
</cp:coreProperties>
</file>